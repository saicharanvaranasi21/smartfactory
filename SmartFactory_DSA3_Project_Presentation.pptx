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640080"/>
            <a:ext cx="2011680" cy="2011680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1828800"/>
            <a:ext cx="1051560" cy="1051560"/>
          </a:xfrm>
          <a:prstGeom prst="ellipse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377440"/>
            <a:ext cx="640080" cy="640080"/>
          </a:xfrm>
          <a:prstGeom prst="ellipse">
            <a:avLst/>
          </a:prstGeom>
          <a:solidFill>
            <a:srgbClr val="37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772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37BED2"/>
                </a:solidFill>
                <a:latin typeface="Aptos"/>
              </a:defRPr>
            </a:pPr>
            <a:r>
              <a:t>DSA-3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8046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800" b="1">
                <a:solidFill>
                  <a:srgbClr val="F8FAFD"/>
                </a:solidFill>
                <a:latin typeface="Aptos"/>
              </a:defRPr>
            </a:pPr>
            <a:r>
              <a:t>SMARTFACTORY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87168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0">
                <a:solidFill>
                  <a:srgbClr val="E1E9F3"/>
                </a:solidFill>
                <a:latin typeface="Aptos"/>
              </a:defRPr>
            </a:pPr>
            <a:r>
              <a:t>Industrial Production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70408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4B4CA"/>
                </a:solidFill>
                <a:latin typeface="Aptos"/>
              </a:defRPr>
            </a:pPr>
            <a:r>
              <a:t>A menu-driven Java application demonstrating advanced 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8138160" cy="19659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34340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37BED2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09160"/>
            <a:ext cx="7223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2500030756  |  VARANASI SAI CHARAN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93208"/>
            <a:ext cx="7223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2500030497  |  SASANAPURI SHYAMSNEHAL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477256"/>
            <a:ext cx="7223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2500030832  |  AMAN VAISHNAV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01 ·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4B4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F8FAFD"/>
                </a:solidFill>
                <a:latin typeface="Aptos"/>
              </a:defRPr>
            </a:pPr>
            <a:r>
              <a:t>Industrial production environments manage machines, jobs, fault reports, and maintenance priorities.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Manual lookup of machine records can be slow.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Fault reports may contain multiple important keywords.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Tasks and resources need efficient assignment.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Production networks can contain capacity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224028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56232"/>
            <a:ext cx="1874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MACHINE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58568"/>
            <a:ext cx="18745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ID • Line • Code</a:t>
            </a:r>
            <a:br/>
            <a:r>
              <a:t>Status • Fault •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691640"/>
            <a:ext cx="224028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56232"/>
            <a:ext cx="1874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258568"/>
            <a:ext cx="18745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Filtering • Sorting</a:t>
            </a:r>
            <a:br/>
            <a:r>
              <a:t>Statistics •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886200"/>
            <a:ext cx="2377440" cy="16459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4050791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4453128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String matching</a:t>
            </a:r>
            <a:br/>
            <a:r>
              <a:t>DP • Graphs • Randomization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01 ·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4B4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74920" cy="16459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Manage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709159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Add, edit, delete, find, and display machine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5074920" cy="16459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1051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Analyze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12848"/>
            <a:ext cx="4709159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Filter status, summarize production lines, sort, and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5074920" cy="16459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67911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Search efficiently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0248"/>
            <a:ext cx="4709159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Use exact and multi-pattern string matching.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703320"/>
            <a:ext cx="5074920" cy="16459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67911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869B4"/>
                </a:solidFill>
                <a:latin typeface="Aptos"/>
              </a:defRPr>
            </a:pPr>
            <a:r>
              <a:t>Optimize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70248"/>
            <a:ext cx="4709159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Demonstrate assignment optimization and graph algorithms.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02 ·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926080" cy="13258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56232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USER /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58568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Main menu and submenu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2926080" cy="13258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56232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SMARTFACTORY.JAVA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58568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Menu routing and feature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2926080" cy="13258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856232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ALGORITHM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258568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KMP, Aho-Corasick, DP, graphs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2359152"/>
            <a:ext cx="822961" cy="0"/>
          </a:xfrm>
          <a:prstGeom prst="line">
            <a:avLst/>
          </a:prstGeom>
          <a:ln w="25400">
            <a:solidFill>
              <a:srgbClr val="37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2359152"/>
            <a:ext cx="822961" cy="0"/>
          </a:xfrm>
          <a:prstGeom prst="line">
            <a:avLst/>
          </a:prstGeom>
          <a:ln w="25400">
            <a:solidFill>
              <a:srgbClr val="37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34440" y="3840480"/>
            <a:ext cx="4206240" cy="15087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005072"/>
            <a:ext cx="3840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869B4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07408"/>
            <a:ext cx="384047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Machine.java: data model</a:t>
            </a:r>
            <a:br/>
            <a:r>
              <a:t>FactoryData.java: in-memory records +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840480"/>
            <a:ext cx="4206240" cy="15087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005072"/>
            <a:ext cx="3840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OUTPUT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07408"/>
            <a:ext cx="3840479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Clean summaries, matches, assignments,</a:t>
            </a:r>
            <a:br/>
            <a:r>
              <a:t>flow values, and algorithm results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0" y="3017520"/>
            <a:ext cx="0" cy="822960"/>
          </a:xfrm>
          <a:prstGeom prst="line">
            <a:avLst/>
          </a:prstGeom>
          <a:ln w="25400">
            <a:solidFill>
              <a:srgbClr val="37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629400" y="4526280"/>
            <a:ext cx="1600200" cy="0"/>
          </a:xfrm>
          <a:prstGeom prst="line">
            <a:avLst/>
          </a:prstGeom>
          <a:ln w="25400">
            <a:solidFill>
              <a:srgbClr val="37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Menu-Driven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02 · USER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4B4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1. Machine dashboard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2. Add machine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3. Edit machine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4. Delete machine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5. KMP search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6. Fault keyword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7. Fuzzy machine search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8. Machine analytics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9. Bitmask DP assignment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10. Network flow bottleneck analysis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11. Vertex-cover conflict review</a:t>
            </a:r>
          </a:p>
          <a:p>
            <a:pPr>
              <a:spcAft>
                <a:spcPts val="13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12. Randomized &amp; parallel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Option 8 — Machine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03 · MENU-DRIVEN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4B4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Filter by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Find Running, Maintenance, or Stopped machines.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554480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1907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12140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Count records by machine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63239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2783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016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Bubble Sort by ID, status, or production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063239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22783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869B4"/>
                </a:solidFill>
                <a:latin typeface="Aptos"/>
              </a:defRPr>
            </a:pPr>
            <a:r>
              <a:t>Maintenance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63016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Rule-based highlighting of risky machines.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3659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Line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3892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Count machines per production 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4572000"/>
            <a:ext cx="5120640" cy="11887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736592"/>
            <a:ext cx="47548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Machine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5138928"/>
            <a:ext cx="4754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Look up a record by machine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String Processing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04 · CO-2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52044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KMP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Searches a pattern in machine IDs, codes, and reports.</a:t>
            </a:r>
            <a:br/>
            <a:r>
              <a:t>• Uses the LPS array to avoid rechecking matched characters.</a:t>
            </a:r>
            <a:br/>
            <a:r>
              <a:t>• Time: O(N + 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Aho–Corasick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Searches multiple fault keywords in one scan.</a:t>
            </a:r>
            <a:br/>
            <a:r>
              <a:t>• Uses a trie, failure links, and output counts.</a:t>
            </a:r>
            <a:br/>
            <a:r>
              <a:t>• Scan: O(N + Z), plus preprocessing.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45920"/>
            <a:ext cx="352044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Edit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12848"/>
            <a:ext cx="3154680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Supports approximate machine-ID lookup.</a:t>
            </a:r>
            <a:br/>
            <a:r>
              <a:t>• Uses insertion, deletion, and replacement DP.</a:t>
            </a:r>
            <a:br/>
            <a:r>
              <a:t>• Time/space: O(NM).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578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E1E9F3"/>
                </a:solidFill>
                <a:latin typeface="Aptos"/>
              </a:defRPr>
            </a:pPr>
            <a:r>
              <a:t>Use cases: product-code lookup, fault keyword detection, and typo-tolerant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Dynamic Programming — Bitmask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05 · CO-3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F8FAFD"/>
                </a:solidFill>
                <a:latin typeface="Aptos"/>
              </a:defRPr>
            </a:pPr>
            <a:r>
              <a:t>Goal: assign each task to one unique machine while minimizing total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User enters task/machine count.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User supplies a non-negative cost matrix.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DP state is a bitmask of already-used machines.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Reconstruction prints the chosen machine for every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14173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0195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04288"/>
            <a:ext cx="4663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dp[mask] = minimum cost for assigning the first k tasks using machines in mask.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029200" cy="14173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3931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41648"/>
            <a:ext cx="4663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Try each unused machine and update the next mask with the lower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212080"/>
            <a:ext cx="5029200" cy="77724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37667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779008"/>
            <a:ext cx="4663440" cy="91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O(n · 2ⁿ) time • O(2ⁿ) DP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Graph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06 · CO-4 &amp; CO-5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02920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5623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Network Flow — Edmonds–Karp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58568"/>
            <a:ext cx="46634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Models production paths as a capacity graph.</a:t>
            </a:r>
            <a:br/>
            <a:r>
              <a:t>• BFS finds augmenting paths in the residual graph.</a:t>
            </a:r>
            <a:br/>
            <a:r>
              <a:t>• Reports maximum flow and minimum cut.</a:t>
            </a:r>
            <a:br/>
            <a:r>
              <a:t>• Time: O(VE²).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02920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5623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Vertex Cover — 2-Approximation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66344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Models conflicting jobs as graph edges.</a:t>
            </a:r>
            <a:br/>
            <a:r>
              <a:t>• Selects both endpoints of each uncovered edge.</a:t>
            </a:r>
            <a:br/>
            <a:r>
              <a:t>• Produces a valid cover within factor 2 of optimum.</a:t>
            </a:r>
            <a:br/>
            <a:r>
              <a:t>• Current implementation: O(V + E²).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4B4CA"/>
                </a:solidFill>
                <a:latin typeface="Aptos"/>
              </a:defRPr>
            </a:pPr>
            <a:r>
              <a:t>These are illustrative graph inputs; they demonstrate algorithms, not live factory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Randomized &amp; Parallel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07 · CO-6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320040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Randomized QuickSort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4663440" cy="2514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Selects a random pivot during partitioning.</a:t>
            </a:r>
            <a:br/>
            <a:r>
              <a:t>• Expected time: O(n log n).</a:t>
            </a:r>
            <a:br/>
            <a:r>
              <a:t>• Worst case: O(n²).</a:t>
            </a:r>
            <a:br/>
            <a:r>
              <a:t>• Demonstrated with maintenance-duration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029200" cy="320040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0195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Parallel Report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4663440" cy="2514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Creates worker threads for reports.</a:t>
            </a:r>
            <a:br/>
            <a:r>
              <a:t>• Each worker checks keywords using KMP.</a:t>
            </a:r>
            <a:br/>
            <a:r>
              <a:t>• Main thread joins workers before output.</a:t>
            </a:r>
            <a:br/>
            <a:r>
              <a:t>• Demonstrates concurrency on sample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4B4CA"/>
                </a:solidFill>
                <a:latin typeface="Aptos"/>
              </a:defRPr>
            </a:pPr>
            <a:r>
              <a:t>Sample inputs are embedded in the demonstration; parallel analysis is not a live sensor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Implementation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08 · CODE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SmartFactory.java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Main menu, submenus, input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84248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Machine.java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67128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Machine data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42616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25496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FactoryData.java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25496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CRUD, analytics, sorting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300984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3864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KMP.java / AhoCorasick.java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83864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Exact and multi-pattern 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59352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42231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EditDistance.java / MachineAssignment.java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42231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Fuzzy search and Bitmask DP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617719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NetworkFlow.java / VertexCoverApprox.java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00600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Graph algorithms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276088"/>
            <a:ext cx="10241280" cy="10972"/>
          </a:xfrm>
          <a:prstGeom prst="rect">
            <a:avLst/>
          </a:prstGeom>
          <a:solidFill>
            <a:srgbClr val="36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RandomizedAlgorithms.java / ParallelAnalysis.java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58968"/>
            <a:ext cx="6675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9F3"/>
                </a:solidFill>
                <a:latin typeface="Aptos"/>
              </a:defRPr>
            </a:pPr>
            <a:r>
              <a:t>Randomized sorting and threaded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09 ·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Validate required fields and duplicate machine IDs.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Handle invalid menu choices and invalid numeric input.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Test KMP with matches and no-match cases.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Test Bitmask DP using known cost matrices.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Check max-flow and vertex-cover results on sample graphs.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Test randomized sort ordering and thread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828800"/>
            <a:ext cx="4023360" cy="14173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993392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TESTING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95728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The test checklist documents cases to run; it is not proof that every case passed.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657600"/>
            <a:ext cx="4023360" cy="14173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822191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DATA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4224528"/>
            <a:ext cx="3657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Machine records are in-memory. Algorithm demos use sample or user-entered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10 ·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7492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4709159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No database persistence.</a:t>
            </a:r>
            <a:br/>
            <a:r>
              <a:t>• No live sensors or factory integration.</a:t>
            </a:r>
            <a:br/>
            <a:r>
              <a:t>• Some graph demonstrations use fixed sample graphs.</a:t>
            </a:r>
            <a:br/>
            <a:r>
              <a:t>• Maintenance priority is rule-based.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07492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5623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709159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• Connect PostgreSQL for persistent records.</a:t>
            </a:r>
            <a:br/>
            <a:r>
              <a:t>• Integrate IoT/sensor data.</a:t>
            </a:r>
            <a:br/>
            <a:r>
              <a:t>• Add role-based access and audit logs.</a:t>
            </a:r>
            <a:br/>
            <a:r>
              <a:t>• Visualize production and fault trends.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7BED2"/>
                </a:solidFill>
                <a:latin typeface="Aptos"/>
              </a:defRPr>
            </a:pPr>
            <a:r>
              <a:t>11 · CONTRIBUTORS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143000" cy="4114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4B4C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241280" cy="9601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7452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37BED2"/>
                </a:solidFill>
                <a:latin typeface="Aptos"/>
              </a:defRPr>
            </a:pPr>
            <a:r>
              <a:t>2500030756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7452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8FAFD"/>
                </a:solidFill>
                <a:latin typeface="Aptos"/>
              </a:defRPr>
            </a:pPr>
            <a:r>
              <a:t>VARANASI SAI CHARAN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71800"/>
            <a:ext cx="10241280" cy="9601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37BED2"/>
                </a:solidFill>
                <a:latin typeface="Aptos"/>
              </a:defRPr>
            </a:pPr>
            <a:r>
              <a:t>2500030497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8FAFD"/>
                </a:solidFill>
                <a:latin typeface="Aptos"/>
              </a:defRPr>
            </a:pPr>
            <a:r>
              <a:t>SASANAPURI SHYAMSNEHAL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6012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43484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37BED2"/>
                </a:solidFill>
                <a:latin typeface="Aptos"/>
              </a:defRPr>
            </a:pPr>
            <a:r>
              <a:t>2500030832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348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8FAFD"/>
                </a:solidFill>
                <a:latin typeface="Aptos"/>
              </a:defRPr>
            </a:pPr>
            <a:r>
              <a:t>AMAN VAISHNAV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37BED2"/>
                </a:solidFill>
                <a:latin typeface="Aptos"/>
              </a:defRPr>
            </a:pPr>
            <a:r>
              <a:t>SMARTFACTORY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9784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0">
                <a:solidFill>
                  <a:srgbClr val="E1E9F3"/>
                </a:solidFill>
                <a:latin typeface="Aptos"/>
              </a:defRPr>
            </a:pPr>
            <a:r>
              <a:t>SmartFactory combines machine record management with algorithm-driven search, optimization, and graph analysis in one menu-driven Java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3246120" cy="12801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50791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BED2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53128"/>
            <a:ext cx="2880360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KMP • Aho–Corasick • Edit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86200"/>
            <a:ext cx="3246120" cy="12801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050791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37AF82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453128"/>
            <a:ext cx="2880360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Bitmask Dynamic Programming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86200"/>
            <a:ext cx="3246120" cy="1280160"/>
          </a:xfrm>
          <a:prstGeom prst="roundRect">
            <a:avLst/>
          </a:prstGeom>
          <a:solidFill>
            <a:srgbClr val="19263C"/>
          </a:solidFill>
          <a:ln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050791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453128"/>
            <a:ext cx="2880360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E1E9F3"/>
                </a:solidFill>
                <a:latin typeface="Aptos"/>
              </a:defRPr>
            </a:pPr>
            <a:r>
              <a:t>Network Flow • Vertex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A4B4CA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